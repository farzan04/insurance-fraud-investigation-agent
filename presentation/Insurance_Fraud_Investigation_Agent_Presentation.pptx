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72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19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2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11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42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3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57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8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1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0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51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977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34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51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94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7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7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642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AI-Based Insurance Fraud Investigation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Combining Machine Learning, Investigation Tools, and an LLM Agent</a:t>
            </a:r>
          </a:p>
          <a:p>
            <a:pPr>
              <a:spcAft>
                <a:spcPts val="1000"/>
              </a:spcAft>
              <a:defRPr sz="1800"/>
            </a:pPr>
            <a:r>
              <a:t>Qwen + LangGraph + Random Forest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Insurance fraud investigation requires checking multiple sources.</a:t>
            </a:r>
          </a:p>
          <a:p>
            <a:pPr>
              <a:spcAft>
                <a:spcPts val="1000"/>
              </a:spcAft>
              <a:defRPr sz="1800"/>
            </a:pPr>
            <a:r>
              <a:t>Claim, policy, payment, and agent records contain disconnected signals.</a:t>
            </a:r>
          </a:p>
          <a:p>
            <a:pPr>
              <a:spcAft>
                <a:spcPts val="1000"/>
              </a:spcAft>
              <a:defRPr sz="1800"/>
            </a:pPr>
            <a:r>
              <a:t>A fraud score alone does not explain why a claim is suspicious.</a:t>
            </a:r>
          </a:p>
          <a:p>
            <a:pPr>
              <a:spcAft>
                <a:spcPts val="1000"/>
              </a:spcAft>
              <a:defRPr sz="1800"/>
            </a:pPr>
            <a:r>
              <a:t>Goal: build an AI-assisted investigation system that predicts risk and explains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Build an end-to-end insurance fraud investigation workflow.</a:t>
            </a:r>
          </a:p>
          <a:p>
            <a:pPr>
              <a:spcAft>
                <a:spcPts val="1000"/>
              </a:spcAft>
              <a:defRPr sz="1800"/>
            </a:pPr>
            <a:r>
              <a:t>Integrate multiple data sources into a unified investigation context.</a:t>
            </a:r>
          </a:p>
          <a:p>
            <a:pPr>
              <a:spcAft>
                <a:spcPts val="1000"/>
              </a:spcAft>
              <a:defRPr sz="1800"/>
            </a:pPr>
            <a:r>
              <a:t>Train a machine-learning model to estimate fraud probability.</a:t>
            </a:r>
          </a:p>
          <a:p>
            <a:pPr>
              <a:spcAft>
                <a:spcPts val="1000"/>
              </a:spcAft>
              <a:defRPr sz="1800"/>
            </a:pPr>
            <a:r>
              <a:t>Give an LLM Agent investigation tools.</a:t>
            </a:r>
          </a:p>
          <a:p>
            <a:pPr>
              <a:spcAft>
                <a:spcPts val="1000"/>
              </a:spcAft>
              <a:defRPr sz="1800"/>
            </a:pPr>
            <a:r>
              <a:t>Produce an evidence-based final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Machine 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Started with a claim-only Random Forest baseline.</a:t>
            </a:r>
          </a:p>
          <a:p>
            <a:pPr>
              <a:spcAft>
                <a:spcPts val="1000"/>
              </a:spcAft>
              <a:defRPr sz="1800"/>
            </a:pPr>
            <a:r>
              <a:t>Expanded to a multi-source dataset combining claims, policies, payments, and agent information.</a:t>
            </a:r>
          </a:p>
          <a:p>
            <a:pPr>
              <a:spcAft>
                <a:spcPts val="1000"/>
              </a:spcAft>
              <a:defRPr sz="1800"/>
            </a:pPr>
            <a:r>
              <a:t>Evaluated progressively richer feature sets.</a:t>
            </a:r>
          </a:p>
          <a:p>
            <a:pPr>
              <a:spcAft>
                <a:spcPts val="1000"/>
              </a:spcAft>
              <a:defRPr sz="1800"/>
            </a:pPr>
            <a:r>
              <a:t>Also tested relationship-specific features linking exact agent/customer/policy records.</a:t>
            </a:r>
          </a:p>
          <a:p>
            <a:pPr>
              <a:spcAft>
                <a:spcPts val="1000"/>
              </a:spcAft>
              <a:defRPr sz="1800"/>
            </a:pPr>
            <a:r>
              <a:t>Used a held-out test set of 200 claims.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Claim-only RF: ROC-AUC 0.6783 | Fraud Recall 10.81% | F1 0.1905</a:t>
            </a:r>
          </a:p>
          <a:p>
            <a:pPr>
              <a:spcAft>
                <a:spcPts val="1000"/>
              </a:spcAft>
              <a:defRPr sz="1800"/>
            </a:pPr>
            <a:r>
              <a:t>Multi-source RF: ROC-AUC 0.7096 | Fraud Recall 40.54% | F1 0.4348</a:t>
            </a:r>
          </a:p>
          <a:p>
            <a:pPr>
              <a:spcAft>
                <a:spcPts val="1000"/>
              </a:spcAft>
              <a:defRPr sz="1800"/>
            </a:pPr>
            <a:r>
              <a:t>Relationship-enhanced RF: ROC-AUC 0.6801 | Fraud Recall 37.84% | F1 0.4000</a:t>
            </a:r>
          </a:p>
          <a:p>
            <a:pPr>
              <a:spcAft>
                <a:spcPts val="1000"/>
              </a:spcAft>
              <a:defRPr sz="1800"/>
            </a:pPr>
            <a:r>
              <a:t>Selected model: Multi-source Random Forest.</a:t>
            </a:r>
          </a:p>
          <a:p>
            <a:pPr>
              <a:spcAft>
                <a:spcPts val="1000"/>
              </a:spcAft>
              <a:defRPr sz="1800"/>
            </a:pPr>
            <a:r>
              <a:t>Key finding: cross-source information improved fraud detection over the claim-only baseline.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760DF0-12D0-D6E0-30F5-371D046E3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588" y="3497903"/>
            <a:ext cx="3433483" cy="3040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User / Investigator → Qwen LLM Agent + LangGraph</a:t>
            </a:r>
          </a:p>
          <a:p>
            <a:pPr>
              <a:spcAft>
                <a:spcPts val="1000"/>
              </a:spcAft>
              <a:defRPr sz="1800"/>
            </a:pPr>
            <a:r>
              <a:t>↓</a:t>
            </a:r>
          </a:p>
          <a:p>
            <a:pPr>
              <a:spcAft>
                <a:spcPts val="1000"/>
              </a:spcAft>
              <a:defRPr sz="1800"/>
            </a:pPr>
            <a:r>
              <a:t>Investigation Context → Claim / Policy / Payment / Agent / Evidence Tools</a:t>
            </a:r>
          </a:p>
          <a:p>
            <a:pPr>
              <a:spcAft>
                <a:spcPts val="1000"/>
              </a:spcAft>
              <a:defRPr sz="1800"/>
            </a:pPr>
            <a:r>
              <a:t>↓</a:t>
            </a:r>
          </a:p>
          <a:p>
            <a:pPr>
              <a:spcAft>
                <a:spcPts val="1000"/>
              </a:spcAft>
              <a:defRPr sz="1800"/>
            </a:pPr>
            <a:r>
              <a:t>Fraud Prediction Tool → Multi-Source Random Forest</a:t>
            </a:r>
          </a:p>
          <a:p>
            <a:pPr>
              <a:spcAft>
                <a:spcPts val="1000"/>
              </a:spcAft>
              <a:defRPr sz="1800"/>
            </a:pPr>
            <a:r>
              <a:t>↓</a:t>
            </a:r>
          </a:p>
          <a:p>
            <a:pPr>
              <a:spcAft>
                <a:spcPts val="1000"/>
              </a:spcAft>
              <a:defRPr sz="1800"/>
            </a:pPr>
            <a:r>
              <a:t>Evidence + ML Prediction → Final Investigation 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Investigation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Claim Tool — retrieves claim details.</a:t>
            </a:r>
          </a:p>
          <a:p>
            <a:pPr>
              <a:spcAft>
                <a:spcPts val="1000"/>
              </a:spcAft>
              <a:defRPr sz="1800"/>
            </a:pPr>
            <a:r>
              <a:t>Policy Tool — retrieves policy information.</a:t>
            </a:r>
          </a:p>
          <a:p>
            <a:pPr>
              <a:spcAft>
                <a:spcPts val="1000"/>
              </a:spcAft>
              <a:defRPr sz="1800"/>
            </a:pPr>
            <a:r>
              <a:t>Payment Tool — checks payment history and anomalies.</a:t>
            </a:r>
          </a:p>
          <a:p>
            <a:pPr>
              <a:spcAft>
                <a:spcPts val="1000"/>
              </a:spcAft>
              <a:defRPr sz="1800"/>
            </a:pPr>
            <a:r>
              <a:t>Agent Tool — checks agent / ghost-broking history.</a:t>
            </a:r>
          </a:p>
          <a:p>
            <a:pPr>
              <a:spcAft>
                <a:spcPts val="1000"/>
              </a:spcAft>
              <a:defRPr sz="1800"/>
            </a:pPr>
            <a:r>
              <a:t>Evidence Tool — calculates verified fraud indicators.</a:t>
            </a:r>
          </a:p>
          <a:p>
            <a:pPr>
              <a:spcAft>
                <a:spcPts val="1000"/>
              </a:spcAft>
              <a:defRPr sz="1800"/>
            </a:pPr>
            <a:r>
              <a:t>Investigation Context Tool — combines relevant evidence.</a:t>
            </a:r>
          </a:p>
          <a:p>
            <a:pPr>
              <a:spcAft>
                <a:spcPts val="1000"/>
              </a:spcAft>
              <a:defRPr sz="1800"/>
            </a:pPr>
            <a:r>
              <a:t>Fraud Prediction Tool — returns ML fraud probability.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Agent + ML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LangGraph orchestrates the investigation workflow.</a:t>
            </a:r>
          </a:p>
          <a:p>
            <a:pPr>
              <a:spcAft>
                <a:spcPts val="1000"/>
              </a:spcAft>
              <a:defRPr sz="1800"/>
            </a:pPr>
            <a:r>
              <a:t>Qwen provides reasoning and explanation.</a:t>
            </a:r>
          </a:p>
          <a:p>
            <a:pPr>
              <a:spcAft>
                <a:spcPts val="1000"/>
              </a:spcAft>
              <a:defRPr sz="1800"/>
            </a:pPr>
            <a:r>
              <a:t>The Agent retrieves evidence through tools.</a:t>
            </a:r>
          </a:p>
          <a:p>
            <a:pPr>
              <a:spcAft>
                <a:spcPts val="1000"/>
              </a:spcAft>
              <a:defRPr sz="1800"/>
            </a:pPr>
            <a:r>
              <a:t>The ML model provides quantitative fraud probability.</a:t>
            </a:r>
          </a:p>
          <a:p>
            <a:pPr>
              <a:spcAft>
                <a:spcPts val="1000"/>
              </a:spcAft>
              <a:defRPr sz="1800"/>
            </a:pPr>
            <a:r>
              <a:t>The Agent distinguishes ML prediction from overall investigation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Example claim: CLM000001</a:t>
            </a:r>
          </a:p>
          <a:p>
            <a:pPr>
              <a:spcAft>
                <a:spcPts val="1000"/>
              </a:spcAft>
              <a:defRPr sz="1800"/>
            </a:pPr>
            <a:r>
              <a:t>ML fraud probability: 21%</a:t>
            </a:r>
          </a:p>
          <a:p>
            <a:pPr>
              <a:spcAft>
                <a:spcPts val="1000"/>
              </a:spcAft>
              <a:defRPr sz="1800"/>
            </a:pPr>
            <a:r>
              <a:t>ML prediction: NON-FRAUD</a:t>
            </a:r>
          </a:p>
          <a:p>
            <a:pPr>
              <a:spcAft>
                <a:spcPts val="1000"/>
              </a:spcAft>
              <a:defRPr sz="1800"/>
            </a:pPr>
            <a:r>
              <a:t>Risk indicators included a cancelled policy, bounced payment, and suspicious agent history.</a:t>
            </a:r>
          </a:p>
          <a:p>
            <a:pPr>
              <a:spcAft>
                <a:spcPts val="1000"/>
              </a:spcAft>
              <a:defRPr sz="1800"/>
            </a:pPr>
            <a:r>
              <a:t>The Agent recommends further review rather than treating the ML score as the complete decision.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Agent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Development sample: 10 claims.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Accuracy: 90%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Fraud Precision: 100%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Fraud Recall: 80%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Fraud F1: 88.89%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Context Tool Usage: 100%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Prediction Tool Usage: 100%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Note: development-sample evaluation, not the 200-claim held-out ML test.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4084C-7D68-834B-4A82-0A3732C09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294" y="1006734"/>
            <a:ext cx="4776321" cy="29377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Submit a claim ID.</a:t>
            </a:r>
          </a:p>
          <a:p>
            <a:pPr>
              <a:spcAft>
                <a:spcPts val="1000"/>
              </a:spcAft>
              <a:defRPr sz="1800"/>
            </a:pPr>
            <a:r>
              <a:t>2. Agent retrieves investigation context.</a:t>
            </a:r>
          </a:p>
          <a:p>
            <a:pPr>
              <a:spcAft>
                <a:spcPts val="1000"/>
              </a:spcAft>
              <a:defRPr sz="1800"/>
            </a:pPr>
            <a:r>
              <a:t>3. Claim, policy, payment, and agent evidence is assembled.</a:t>
            </a:r>
          </a:p>
          <a:p>
            <a:pPr>
              <a:spcAft>
                <a:spcPts val="1000"/>
              </a:spcAft>
              <a:defRPr sz="1800"/>
            </a:pPr>
            <a:r>
              <a:t>4. Fraud Prediction Tool obtains ML probability.</a:t>
            </a:r>
          </a:p>
          <a:p>
            <a:pPr>
              <a:spcAft>
                <a:spcPts val="1000"/>
              </a:spcAft>
              <a:defRPr sz="1800"/>
            </a:pPr>
            <a:r>
              <a:t>5. Qwen analyzes supporting and mitigating evidence.</a:t>
            </a:r>
          </a:p>
          <a:p>
            <a:pPr>
              <a:spcAft>
                <a:spcPts val="1000"/>
              </a:spcAft>
              <a:defRPr sz="1800"/>
            </a:pPr>
            <a:r>
              <a:t>6. Agent produces evidence, prediction, recommendation, and final classification.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Multi-source information improved baseline fraud detection.</a:t>
            </a:r>
          </a:p>
          <a:p>
            <a:pPr>
              <a:spcAft>
                <a:spcPts val="1000"/>
              </a:spcAft>
              <a:defRPr sz="1800"/>
            </a:pPr>
            <a:r>
              <a:t>More features did not automatically produce a better model.</a:t>
            </a:r>
          </a:p>
          <a:p>
            <a:pPr>
              <a:spcAft>
                <a:spcPts val="1000"/>
              </a:spcAft>
              <a:defRPr sz="1800"/>
            </a:pPr>
            <a:r>
              <a:t>The Agent adds an explainable investigation layer around ML.</a:t>
            </a:r>
          </a:p>
          <a:p>
            <a:pPr>
              <a:spcAft>
                <a:spcPts val="1000"/>
              </a:spcAft>
              <a:defRPr sz="1800"/>
            </a:pPr>
            <a:r>
              <a:t>The system separates quantitative ML prediction from broader evidence-based assessment.</a:t>
            </a:r>
          </a:p>
          <a:p>
            <a:pPr>
              <a:spcAft>
                <a:spcPts val="1000"/>
              </a:spcAft>
              <a:defRPr sz="1800"/>
            </a:pPr>
            <a:r>
              <a:t>This is a decision-support prototype, not autonomous claims adjudication.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Dataset size limits generalization.</a:t>
            </a:r>
          </a:p>
          <a:p>
            <a:pPr>
              <a:spcAft>
                <a:spcPts val="1000"/>
              </a:spcAft>
              <a:defRPr sz="1800"/>
            </a:pPr>
            <a:r>
              <a:t>Fraud-class imbalance makes recall an important improvement area.</a:t>
            </a:r>
          </a:p>
          <a:p>
            <a:pPr>
              <a:spcAft>
                <a:spcPts val="1000"/>
              </a:spcAft>
              <a:defRPr sz="1800"/>
            </a:pPr>
            <a:r>
              <a:t>Agent evaluation uses a small development sample.</a:t>
            </a:r>
          </a:p>
          <a:p>
            <a:pPr>
              <a:spcAft>
                <a:spcPts val="1000"/>
              </a:spcAft>
              <a:defRPr sz="1800"/>
            </a:pPr>
            <a:r>
              <a:t>Future work: larger datasets, threshold optimization, calibration, stronger relationship modeling, and broader held-out Agent evaluation.</a:t>
            </a:r>
          </a:p>
          <a:p>
            <a:pPr>
              <a:spcAft>
                <a:spcPts val="1000"/>
              </a:spcAft>
              <a:defRPr sz="1800"/>
            </a:pPr>
            <a:r>
              <a:t>Human investigator review should remain part of the final decision.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Built an end-to-end AI-assisted insurance fraud investigation system.</a:t>
            </a:r>
          </a:p>
          <a:p>
            <a:pPr>
              <a:spcAft>
                <a:spcPts val="1000"/>
              </a:spcAft>
              <a:defRPr sz="1800"/>
            </a:pPr>
            <a:r>
              <a:t>Combines multi-source data, Random Forest, investigation tools, Qwen, and LangGraph.</a:t>
            </a:r>
          </a:p>
          <a:p>
            <a:pPr>
              <a:spcAft>
                <a:spcPts val="1000"/>
              </a:spcAft>
              <a:defRPr sz="1800"/>
            </a:pPr>
            <a:r>
              <a:t>The system gathers evidence and explains the investigation rather than only outputting a score.</a:t>
            </a:r>
          </a:p>
          <a:p>
            <a:pPr>
              <a:spcAft>
                <a:spcPts val="1000"/>
              </a:spcAft>
              <a:defRPr sz="1800"/>
            </a:pPr>
            <a:r>
              <a:t>Core pipeline successfully tested end-to-end.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92</TotalTime>
  <Words>687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Farzan Nawaz</cp:lastModifiedBy>
  <cp:revision>5</cp:revision>
  <dcterms:created xsi:type="dcterms:W3CDTF">2013-01-27T09:14:16Z</dcterms:created>
  <dcterms:modified xsi:type="dcterms:W3CDTF">2026-09-26T06:43:32Z</dcterms:modified>
  <cp:category/>
</cp:coreProperties>
</file>